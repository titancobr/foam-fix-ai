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FormFix-AI</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MULTI-MODEL AI REAL TIME GYM POSE DETECTION AND CORRECTION USING LSTM, BiLSTM and TRANSFORMER</a:t>
            </a:r>
            <a:br/>
            <a:br/>
            <a:r>
              <a:rPr/>
              <a:t>Syed Ahmed (U25UV23T029111),Vibha V Muradi (U25UV23T029122)</a:t>
            </a:r>
          </a:p>
        </p:txBody>
      </p:sp>
      <p:sp>
        <p:nvSpPr>
          <p:cNvPr id="4" name="Date Placeholder 3"/>
          <p:cNvSpPr>
            <a:spLocks noGrp="1"/>
          </p:cNvSpPr>
          <p:nvPr>
            <p:ph idx="10" sz="half" type="dt"/>
          </p:nvPr>
        </p:nvSpPr>
        <p:spPr/>
        <p:txBody>
          <a:bodyPr/>
          <a:lstStyle/>
          <a:p>
            <a:pPr lvl="0" indent="0" marL="0">
              <a:buNone/>
            </a:pPr>
            <a:r>
              <a:rPr/>
              <a:t>2026-04-13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Problem Statement Many users perform workouts without supervision, which leads to poor exercise form, wrong repetition counting, low training quality, and injury risk. Existing systems usually solve only one piece of the problem, such as pose detection or action recognition, but do not combine recognition, repetition counting, posture correction, reporting, and user progress tracking into one deployable product.</a:t>
                </a:r>
              </a:p>
              <a:p>
                <a:pPr lvl="0" indent="0" marL="0">
                  <a:buNone/>
                </a:pPr>
                <a:r>
                  <a:rPr b="1"/>
                  <a:t>Project goal</a:t>
                </a:r>
              </a:p>
              <a:p>
                <a:pPr lvl="0"/>
                <a:r>
                  <a:rPr/>
                  <a:t>detect the exercise being performed,</a:t>
                </a:r>
              </a:p>
              <a:p>
                <a:pPr lvl="0"/>
                <a:r>
                  <a:rPr/>
                  <a:t>count reps accurately,</a:t>
                </a:r>
              </a:p>
              <a:p>
                <a:pPr lvl="0"/>
                <a:r>
                  <a:rPr/>
                  <a:t>check posture in real time,</a:t>
                </a:r>
              </a:p>
              <a:p>
                <a:pPr lvl="0"/>
                <a:r>
                  <a:rPr/>
                  <a:t>generate voice and text feedback,</a:t>
                </a:r>
              </a:p>
              <a:p>
                <a:pPr lvl="0"/>
                <a:r>
                  <a:rPr/>
                  <a:t>save progress and end-of-exercise summaries.</a:t>
                </a:r>
              </a:p>
              <a:p>
                <a:pPr lvl="0" indent="0" marL="0">
                  <a:buNone/>
                </a:pPr>
                <a:r>
                  <a:rPr/>
                  <a:t>What Was Implemented from Research Papers</a:t>
                </a:r>
              </a:p>
              <a:p>
                <a:pPr lvl="0"/>
                <a:r>
                  <a:rPr/>
                  <a:t>From MediaPipe/OpenPose papers: real-time body landmark extraction.</a:t>
                </a:r>
              </a:p>
              <a:p>
                <a:pPr lvl="0"/>
                <a:r>
                  <a:rPr/>
                  <a:t>From temporal learning papers: LSTM, BiLSTM, and Transformer sequence classification.</a:t>
                </a:r>
              </a:p>
              <a:p>
                <a:pPr lvl="0"/>
                <a:r>
                  <a:rPr/>
                  <a:t>From posture correction papers: joint-angle based biomechanical rules.</a:t>
                </a:r>
              </a:p>
              <a:p>
                <a:pPr lvl="0"/>
                <a:r>
                  <a:rPr/>
                  <a:t>From feedback-oriented papers: immediate guidance during workout performance.</a:t>
                </a:r>
              </a:p>
              <a:p>
                <a:pPr lvl="0" indent="0" marL="0">
                  <a:buNone/>
                </a:pPr>
                <a:r>
                  <a:rPr b="1"/>
                  <a:t>What is added beyond the papers</a:t>
                </a:r>
              </a:p>
              <a:p>
                <a:pPr lvl="0"/>
                <a:r>
                  <a:rPr/>
                  <a:t>exercise-wise rep counting,</a:t>
                </a:r>
              </a:p>
              <a:p>
                <a:pPr lvl="0"/>
                <a:r>
                  <a:rPr/>
                  <a:t>friendly coach-style correction,</a:t>
                </a:r>
              </a:p>
              <a:p>
                <a:pPr lvl="0"/>
                <a:r>
                  <a:rPr/>
                  <a:t>live web camera interface,</a:t>
                </a:r>
              </a:p>
              <a:p>
                <a:pPr lvl="0"/>
                <a:r>
                  <a:rPr/>
                  <a:t>database-backed user progress tracking,</a:t>
                </a:r>
              </a:p>
              <a:p>
                <a:pPr lvl="0"/>
                <a:r>
                  <a:rPr/>
                  <a:t>session reports with perfect reps, corrected reps, and common mistakes.</a:t>
                </a:r>
              </a:p>
              <a:p>
                <a:pPr lvl="0" indent="0" marL="0">
                  <a:buNone/>
                </a:pPr>
                <a:r>
                  <a:rPr/>
                  <a:t>Research Paper Comparison</a:t>
                </a:r>
              </a:p>
              <a:p>
                <a:pPr lvl="0" indent="0" marL="0">
                  <a:buNone/>
                </a:pPr>
                <a:r>
                  <a:rPr/>
                  <a:t>Dataset Used The project is trained on processed pose-sequence data. Each training sample is a </a:t>
                </a:r>
                <a:r>
                  <a:rPr b="1"/>
                  <a:t>30-frame sequence</a:t>
                </a:r>
                <a:r>
                  <a:rPr/>
                  <a:t>, and each frame contains </a:t>
                </a:r>
                <a:r>
                  <a:rPr b="1"/>
                  <a:t>132 features</a:t>
                </a:r>
                <a:r>
                  <a:rPr/>
                  <a:t> derived from detected body landmarks.</a:t>
                </a:r>
              </a:p>
              <a:p>
                <a:pPr lvl="0" indent="0" marL="0">
                  <a:buNone/>
                </a:pPr>
                <a:r>
                  <a:rPr b="1"/>
                  <a:t>Processed dataset summary</a:t>
                </a:r>
              </a:p>
              <a:p>
                <a:pPr lvl="0"/>
                <a:r>
                  <a:rPr/>
                  <a:t>total sequences: </a:t>
                </a:r>
                <a:r>
                  <a:rPr b="1"/>
                  <a:t>1140</a:t>
                </a:r>
              </a:p>
              <a:p>
                <a:pPr lvl="0"/>
                <a:r>
                  <a:rPr/>
                  <a:t>sequence shape: </a:t>
                </a:r>
                <a14:m>
                  <m:oMath xmlns:m="http://schemas.openxmlformats.org/officeDocument/2006/math">
                    <m:r>
                      <m:rPr>
                        <m:sty m:val="p"/>
                      </m:rPr>
                      <m:t>(</m:t>
                    </m:r>
                    <m:r>
                      <m:t>1140</m:t>
                    </m:r>
                    <m:r>
                      <m:rPr>
                        <m:sty m:val="p"/>
                      </m:rPr>
                      <m:t>,</m:t>
                    </m:r>
                    <m:r>
                      <m:t>30</m:t>
                    </m:r>
                    <m:r>
                      <m:rPr>
                        <m:sty m:val="p"/>
                      </m:rPr>
                      <m:t>,</m:t>
                    </m:r>
                    <m:r>
                      <m:t>132</m:t>
                    </m:r>
                    <m:r>
                      <m:rPr>
                        <m:sty m:val="p"/>
                      </m:rPr>
                      <m:t>)</m:t>
                    </m:r>
                  </m:oMath>
                </a14:m>
              </a:p>
              <a:p>
                <a:pPr lvl="0"/>
                <a:r>
                  <a:rPr/>
                  <a:t>classes: </a:t>
                </a:r>
                <a:r>
                  <a:rPr b="1"/>
                  <a:t>6</a:t>
                </a:r>
              </a:p>
              <a:p>
                <a:pPr lvl="0" indent="0" marL="0">
                  <a:buNone/>
                </a:pPr>
                <a:r>
                  <a:rPr b="1"/>
                  <a:t>Class distribution</a:t>
                </a:r>
              </a:p>
              <a:p>
                <a:pPr lvl="0"/>
                <a:r>
                  <a:rPr/>
                  <a:t>barbell_squat: 152</a:t>
                </a:r>
              </a:p>
              <a:p>
                <a:pPr lvl="0"/>
                <a:r>
                  <a:rPr/>
                  <a:t>bicep_curl: 225</a:t>
                </a:r>
              </a:p>
              <a:p>
                <a:pPr lvl="0"/>
                <a:r>
                  <a:rPr/>
                  <a:t>hammer_curl: 78</a:t>
                </a:r>
              </a:p>
              <a:p>
                <a:pPr lvl="0"/>
                <a:r>
                  <a:rPr/>
                  <a:t>lateral_raise: 170</a:t>
                </a:r>
              </a:p>
              <a:p>
                <a:pPr lvl="0"/>
                <a:r>
                  <a:rPr/>
                  <a:t>pull_up: 212</a:t>
                </a:r>
              </a:p>
              <a:p>
                <a:pPr lvl="0"/>
                <a:r>
                  <a:rPr/>
                  <a:t>push_up: 303</a:t>
                </a:r>
              </a:p>
              <a:p>
                <a:pPr lvl="0" indent="0" marL="0">
                  <a:buNone/>
                </a:pPr>
                <a:r>
                  <a:rPr/>
                  <a:t>Video Count vs Sequence Count The model is trained on pose sequences, not directly on raw videos. One exercise video can generate multiple valid 30-frame windows, so the number of processed sequences is usually greater than the number of source videos.</a:t>
                </a:r>
              </a:p>
              <a:p>
                <a:pPr lvl="0" indent="0" marL="0">
                  <a:buNone/>
                </a:pPr>
                <a:r>
                  <a:rPr b="1"/>
                  <a:t>Example</a:t>
                </a:r>
              </a:p>
              <a:p>
                <a:pPr lvl="0"/>
                <a:r>
                  <a:rPr/>
                  <a:t>hammer_curl videos added by user: 19</a:t>
                </a:r>
              </a:p>
              <a:p>
                <a:pPr lvl="0"/>
                <a:r>
                  <a:rPr/>
                  <a:t>processed hammer_curl sequences in dataset: 78</a:t>
                </a:r>
              </a:p>
              <a:p>
                <a:pPr lvl="0" indent="0" marL="0">
                  <a:buNone/>
                </a:pPr>
                <a:r>
                  <a:rPr/>
                  <a:t>This is expected because one video may produce several usable training windows after preprocessing.</a:t>
                </a:r>
              </a:p>
              <a:p>
                <a:pPr lvl="0" indent="0" marL="0">
                  <a:buNone/>
                </a:pPr>
                <a:r>
                  <a:rPr/>
                  <a:t>End-to-End Architecture image</a:t>
                </a:r>
              </a:p>
              <a:p>
                <a:pPr lvl="0" indent="0" marL="0">
                  <a:buNone/>
                </a:pPr>
                <a:r>
                  <a:rPr/>
                  <a:t>Preprocessing, Training and Evaluation Pipeline </a:t>
                </a:r>
                <a:r>
                  <a:rPr b="1"/>
                  <a:t>Preprocessing</a:t>
                </a:r>
              </a:p>
              <a:p>
                <a:pPr lvl="0" indent="-342900" marL="342900">
                  <a:buAutoNum type="arabicPeriod"/>
                </a:pPr>
                <a:r>
                  <a:rPr/>
                  <a:t>collect exercise videos,</a:t>
                </a:r>
              </a:p>
              <a:p>
                <a:pPr lvl="0" indent="-342900" marL="342900">
                  <a:buAutoNum type="arabicPeriod"/>
                </a:pPr>
                <a:r>
                  <a:rPr/>
                  <a:t>extract pose landmarks using MediaPipe,</a:t>
                </a:r>
              </a:p>
              <a:p>
                <a:pPr lvl="0" indent="-342900" marL="342900">
                  <a:buAutoNum type="arabicPeriod"/>
                </a:pPr>
                <a:r>
                  <a:rPr/>
                  <a:t>flatten frame-wise landmark features,</a:t>
                </a:r>
              </a:p>
              <a:p>
                <a:pPr lvl="0" indent="-342900" marL="342900">
                  <a:buAutoNum type="arabicPeriod"/>
                </a:pPr>
                <a:r>
                  <a:rPr/>
                  <a:t>create 30-frame windows,</a:t>
                </a:r>
              </a:p>
              <a:p>
                <a:pPr lvl="0" indent="-342900" marL="342900">
                  <a:buAutoNum type="arabicPeriod"/>
                </a:pPr>
                <a:r>
                  <a:rPr/>
                  <a:t>store processed dataset in </a:t>
                </a:r>
                <a:r>
                  <a:rPr>
                    <a:latin typeface="Courier"/>
                  </a:rPr>
                  <a:t>exercise_sequences.npz</a:t>
                </a:r>
                <a:r>
                  <a:rPr/>
                  <a:t>.</a:t>
                </a:r>
              </a:p>
              <a:p>
                <a:pPr lvl="0" indent="0" marL="0">
                  <a:buNone/>
                </a:pPr>
                <a:r>
                  <a:rPr b="1"/>
                  <a:t>Training</a:t>
                </a:r>
              </a:p>
              <a:p>
                <a:pPr lvl="0" indent="-342900" marL="342900">
                  <a:buAutoNum type="arabicPeriod"/>
                </a:pPr>
                <a:r>
                  <a:rPr/>
                  <a:t>split data using stratified train/validation partition,</a:t>
                </a:r>
              </a:p>
              <a:p>
                <a:pPr lvl="0" indent="-342900" marL="342900">
                  <a:buAutoNum type="arabicPeriod"/>
                </a:pPr>
                <a:r>
                  <a:rPr/>
                  <a:t>compute class weights,</a:t>
                </a:r>
              </a:p>
              <a:p>
                <a:pPr lvl="0" indent="-342900" marL="342900">
                  <a:buAutoNum type="arabicPeriod"/>
                </a:pPr>
                <a:r>
                  <a:rPr/>
                  <a:t>train LSTM, BiLSTM, and Transformer,</a:t>
                </a:r>
              </a:p>
              <a:p>
                <a:pPr lvl="0" indent="-342900" marL="342900">
                  <a:buAutoNum type="arabicPeriod"/>
                </a:pPr>
                <a:r>
                  <a:rPr/>
                  <a:t>save models in </a:t>
                </a:r>
                <a:r>
                  <a:rPr>
                    <a:latin typeface="Courier"/>
                  </a:rPr>
                  <a:t>models/</a:t>
                </a:r>
                <a:r>
                  <a:rPr/>
                  <a:t>.</a:t>
                </a:r>
              </a:p>
              <a:p>
                <a:pPr lvl="0" indent="0" marL="0">
                  <a:buNone/>
                </a:pPr>
                <a:r>
                  <a:rPr b="1"/>
                  <a:t>Evaluation</a:t>
                </a:r>
              </a:p>
              <a:p>
                <a:pPr lvl="0" indent="-342900" marL="342900">
                  <a:buAutoNum type="arabicPeriod"/>
                </a:pPr>
                <a:r>
                  <a:rPr/>
                  <a:t>load trained model,</a:t>
                </a:r>
              </a:p>
              <a:p>
                <a:pPr lvl="0" indent="-342900" marL="342900">
                  <a:buAutoNum type="arabicPeriod"/>
                </a:pPr>
                <a:r>
                  <a:rPr/>
                  <a:t>predict all sequences,</a:t>
                </a:r>
              </a:p>
              <a:p>
                <a:pPr lvl="0" indent="-342900" marL="342900">
                  <a:buAutoNum type="arabicPeriod"/>
                </a:pPr>
                <a:r>
                  <a:rPr/>
                  <a:t>compute Top-1, Top-3, precision, recall, F1-score, and confusion matrix.</a:t>
                </a:r>
              </a:p>
              <a:p>
                <a:pPr lvl="0" indent="0" marL="0">
                  <a:buNone/>
                </a:pPr>
                <a:r>
                  <a:rPr/>
                  <a:t>Joint Angles Used for Rep Counting and Correction</a:t>
                </a:r>
              </a:p>
              <a:p>
                <a:pPr lvl="0"/>
                <a:r>
                  <a:rPr/>
                  <a:t>Elbow angle = shoulder–elbow–wrist</a:t>
                </a:r>
              </a:p>
              <a:p>
                <a:pPr lvl="0"/>
                <a:r>
                  <a:rPr/>
                  <a:t>Knee angle = hip–knee–ankle</a:t>
                </a:r>
              </a:p>
              <a:p>
                <a:pPr lvl="0"/>
                <a:r>
                  <a:rPr/>
                  <a:t>Hip angle = shoulder–hip–knee</a:t>
                </a:r>
              </a:p>
              <a:p>
                <a:pPr lvl="0"/>
                <a:r>
                  <a:rPr/>
                  <a:t>Shoulder angle = elbow–shoulder–hip</a:t>
                </a:r>
              </a:p>
              <a:p>
                <a:pPr lvl="0" indent="0" marL="0">
                  <a:buNone/>
                </a:pPr>
                <a14:m>
                  <m:oMathPara xmlns:m="http://schemas.openxmlformats.org/officeDocument/2006/math">
                    <m:oMathParaPr>
                      <m:jc m:val="center"/>
                    </m:oMathParaPr>
                    <m:oMath>
                      <m:r>
                        <m:t>θ</m:t>
                      </m:r>
                      <m:r>
                        <m:rPr>
                          <m:sty m:val="p"/>
                        </m:rPr>
                        <m:t>=</m:t>
                      </m:r>
                      <m:sSup>
                        <m:e>
                          <m:r>
                            <m:rPr>
                              <m:sty m:val="p"/>
                            </m:rPr>
                            <m:t>cos</m:t>
                          </m:r>
                        </m:e>
                        <m:sup>
                          <m:r>
                            <m:rPr>
                              <m:sty m:val="p"/>
                            </m:rPr>
                            <m:t>−</m:t>
                          </m:r>
                          <m:r>
                            <m:t>1</m:t>
                          </m:r>
                        </m:sup>
                      </m:sSup>
                      <m:d>
                        <m:dPr>
                          <m:begChr m:val="("/>
                          <m:sepChr m:val=""/>
                          <m:endChr m:val=")"/>
                          <m:grow/>
                        </m:dPr>
                        <m:e>
                          <m:f>
                            <m:fPr>
                              <m:type m:val="bar"/>
                            </m:fPr>
                            <m:num>
                              <m:r>
                                <m:rPr>
                                  <m:sty m:val="p"/>
                                </m:rPr>
                                <m:t>(</m:t>
                              </m:r>
                              <m:r>
                                <m:t>A</m:t>
                              </m:r>
                              <m:r>
                                <m:rPr>
                                  <m:sty m:val="p"/>
                                </m:rPr>
                                <m:t>−</m:t>
                              </m:r>
                              <m:r>
                                <m:t>B</m:t>
                              </m:r>
                              <m:r>
                                <m:rPr>
                                  <m:sty m:val="p"/>
                                </m:rPr>
                                <m:t>)</m:t>
                              </m:r>
                              <m:r>
                                <m:rPr>
                                  <m:sty m:val="p"/>
                                </m:rPr>
                                <m:t>⋅</m:t>
                              </m:r>
                              <m:r>
                                <m:rPr>
                                  <m:sty m:val="p"/>
                                </m:rPr>
                                <m:t>(</m:t>
                              </m:r>
                              <m:r>
                                <m:t>C</m:t>
                              </m:r>
                              <m:r>
                                <m:rPr>
                                  <m:sty m:val="p"/>
                                </m:rPr>
                                <m:t>−</m:t>
                              </m:r>
                              <m:r>
                                <m:t>B</m:t>
                              </m:r>
                              <m:r>
                                <m:rPr>
                                  <m:sty m:val="p"/>
                                </m:rPr>
                                <m:t>)</m:t>
                              </m:r>
                            </m:num>
                            <m:den>
                              <m:r>
                                <m:rPr>
                                  <m:sty m:val="p"/>
                                </m:rPr>
                                <m:t>∥</m:t>
                              </m:r>
                              <m:r>
                                <m:t>A</m:t>
                              </m:r>
                              <m:r>
                                <m:rPr>
                                  <m:sty m:val="p"/>
                                </m:rPr>
                                <m:t>−</m:t>
                              </m:r>
                              <m:r>
                                <m:t>B</m:t>
                              </m:r>
                              <m:r>
                                <m:rPr>
                                  <m:sty m:val="p"/>
                                </m:rPr>
                                <m:t>∥</m:t>
                              </m:r>
                              <m:r>
                                <m:rPr>
                                  <m:sty m:val="p"/>
                                </m:rPr>
                                <m:t>∥</m:t>
                              </m:r>
                              <m:r>
                                <m:t>C</m:t>
                              </m:r>
                              <m:r>
                                <m:rPr>
                                  <m:sty m:val="p"/>
                                </m:rPr>
                                <m:t>−</m:t>
                              </m:r>
                              <m:r>
                                <m:t>B</m:t>
                              </m:r>
                              <m:r>
                                <m:rPr>
                                  <m:sty m:val="p"/>
                                </m:rPr>
                                <m:t>∥</m:t>
                              </m:r>
                            </m:den>
                          </m:f>
                        </m:e>
                      </m:d>
                    </m:oMath>
                  </m:oMathPara>
                </a14:m>
              </a:p>
              <a:p>
                <a:pPr lvl="0" indent="0" marL="0">
                  <a:buNone/>
                </a:pPr>
                <a:r>
                  <a:rPr/>
                  <a:t>These angles are reused by:</a:t>
                </a:r>
              </a:p>
              <a:p>
                <a:pPr lvl="0"/>
                <a:r>
                  <a:rPr/>
                  <a:t>rep counter,</a:t>
                </a:r>
              </a:p>
              <a:p>
                <a:pPr lvl="0"/>
                <a:r>
                  <a:rPr/>
                  <a:t>posture correction engine,</a:t>
                </a:r>
              </a:p>
              <a:p>
                <a:pPr lvl="0"/>
                <a:r>
                  <a:rPr/>
                  <a:t>report generator.</a:t>
                </a:r>
              </a:p>
              <a:p>
                <a:pPr lvl="0" indent="0" marL="0">
                  <a:buNone/>
                </a:pPr>
                <a:r>
                  <a:rPr/>
                  <a:t>Baseline LSTM Architecture image</a:t>
                </a:r>
              </a:p>
              <a:p>
                <a:pPr lvl="0" indent="0" marL="0">
                  <a:buNone/>
                </a:pPr>
                <a:r>
                  <a:rPr b="1"/>
                  <a:t>Function:</a:t>
                </a:r>
                <a:r>
                  <a:rPr/>
                  <a:t> baseline temporal classifier.</a:t>
                </a:r>
                <a:br/>
                <a:r>
                  <a:rPr b="1"/>
                  <a:t>Why used:</a:t>
                </a:r>
                <a:r>
                  <a:rPr/>
                  <a:t> simple and fast sequence-learning baseline for comparison.</a:t>
                </a:r>
              </a:p>
              <a:p>
                <a:pPr lvl="0" indent="0" marL="0">
                  <a:buNone/>
                </a:pPr>
                <a:r>
                  <a:rPr/>
                  <a:t>BiLSTM Architecture image</a:t>
                </a:r>
              </a:p>
              <a:p>
                <a:pPr lvl="0" indent="0" marL="0">
                  <a:buNone/>
                </a:pPr>
                <a:r>
                  <a:rPr b="1"/>
                  <a:t>Function:</a:t>
                </a:r>
                <a:r>
                  <a:rPr/>
                  <a:t> main bidirectional temporal classifier.</a:t>
                </a:r>
                <a:br/>
                <a:r>
                  <a:rPr b="1"/>
                  <a:t>Why used:</a:t>
                </a:r>
                <a:r>
                  <a:rPr/>
                  <a:t> captures motion context from both directions and improves exercise understanding.</a:t>
                </a:r>
              </a:p>
              <a:p>
                <a:pPr lvl="0" indent="0" marL="0">
                  <a:buNone/>
                </a:pPr>
                <a:r>
                  <a:rPr/>
                  <a:t>Transformer Architecture image</a:t>
                </a:r>
              </a:p>
              <a:p>
                <a:pPr lvl="0" indent="0" marL="0">
                  <a:buNone/>
                </a:pPr>
                <a:r>
                  <a:rPr b="1"/>
                  <a:t>Function:</a:t>
                </a:r>
                <a:r>
                  <a:rPr/>
                  <a:t> attention-based sequence model.</a:t>
                </a:r>
                <a:br/>
                <a:r>
                  <a:rPr b="1"/>
                  <a:t>Why used:</a:t>
                </a:r>
                <a:r>
                  <a:rPr/>
                  <a:t> captures long-range frame relationships and acts as an advanced comparison model.</a:t>
                </a:r>
              </a:p>
              <a:p>
                <a:pPr lvl="0" indent="0" marL="0">
                  <a:buNone/>
                </a:pPr>
                <a:r>
                  <a:rPr/>
                  <a:t>How the Three Models Are Used</a:t>
                </a:r>
              </a:p>
              <a:p>
                <a:pPr lvl="0"/>
                <a:r>
                  <a:rPr/>
                  <a:t>LSTM, BiLSTM, and Transformer are trained on the same processed dataset.</a:t>
                </a:r>
              </a:p>
              <a:p>
                <a:pPr lvl="0"/>
                <a:r>
                  <a:rPr/>
                  <a:t>They are compared independently to identify the strongest architecture.</a:t>
                </a:r>
              </a:p>
              <a:p>
                <a:pPr lvl="0"/>
                <a:r>
                  <a:rPr/>
                  <a:t>The live system also supports hybrid inference:</a:t>
                </a:r>
              </a:p>
              <a:p>
                <a:pPr lvl="1"/>
                <a:r>
                  <a:rPr/>
                  <a:t>fast mode favors LSTM,</a:t>
                </a:r>
              </a:p>
              <a:p>
                <a:pPr lvl="1"/>
                <a:r>
                  <a:rPr/>
                  <a:t>best mode favors BiLSTM,</a:t>
                </a:r>
              </a:p>
              <a:p>
                <a:pPr lvl="1"/>
                <a:r>
                  <a:rPr/>
                  <a:t>hybrid mode fuses all three with BiLSTM weight highest,</a:t>
                </a:r>
              </a:p>
              <a:p>
                <a:pPr lvl="1"/>
                <a:r>
                  <a:rPr/>
                  <a:t>ensemble mode runs all models together.</a:t>
                </a:r>
              </a:p>
              <a:p>
                <a:pPr lvl="0" indent="0" marL="0">
                  <a:buNone/>
                </a:pPr>
                <a:r>
                  <a:rPr b="1"/>
                  <a:t>Reason</a:t>
                </a:r>
              </a:p>
              <a:p>
                <a:pPr lvl="0"/>
                <a:r>
                  <a:rPr/>
                  <a:t>LSTM gives speed,</a:t>
                </a:r>
              </a:p>
              <a:p>
                <a:pPr lvl="0"/>
                <a:r>
                  <a:rPr/>
                  <a:t>BiLSTM gives strong temporal context,</a:t>
                </a:r>
              </a:p>
              <a:p>
                <a:pPr lvl="0"/>
                <a:r>
                  <a:rPr/>
                  <a:t>Transformer gives a high-capacity comparison model.</a:t>
                </a:r>
              </a:p>
              <a:p>
                <a:pPr lvl="0" indent="0" marL="0">
                  <a:buNone/>
                </a:pPr>
                <a:r>
                  <a:rPr/>
                  <a:t>Training Log Snapshot: LSTM / BiLSTM image</a:t>
                </a:r>
              </a:p>
              <a:p>
                <a:pPr lvl="0" indent="0" marL="0">
                  <a:buNone/>
                </a:pPr>
                <a:r>
                  <a:rPr/>
                  <a:t>Training Log Snapshot: Transformer image</a:t>
                </a:r>
              </a:p>
              <a:p>
                <a:pPr lvl="0" indent="0" marL="0">
                  <a:buNone/>
                </a:pPr>
                <a:r>
                  <a:rPr/>
                  <a:t>Training vs Validation Accuracy image</a:t>
                </a:r>
              </a:p>
              <a:p>
                <a:pPr lvl="0" indent="0" marL="0">
                  <a:buNone/>
                </a:pPr>
                <a:r>
                  <a:rPr/>
                  <a:t>Training vs Validation Loss image</a:t>
                </a:r>
              </a:p>
              <a:p>
                <a:pPr lvl="0" indent="0" marL="0">
                  <a:buNone/>
                </a:pPr>
                <a:r>
                  <a:rPr/>
                  <a:t>Confusion Matrix image</a:t>
                </a:r>
              </a:p>
              <a:p>
                <a:pPr lvl="0" indent="0" marL="0">
                  <a:buNone/>
                </a:pPr>
                <a:r>
                  <a:rPr/>
                  <a:t>How Accuracy is Calculated </a:t>
                </a:r>
                <a:r>
                  <a:rPr b="1"/>
                  <a:t>Top-1 Accuracy</a:t>
                </a:r>
              </a:p>
              <a:p>
                <a:pPr lvl="0" indent="0" marL="0">
                  <a:buNone/>
                </a:pPr>
                <a14:m>
                  <m:oMathPara xmlns:m="http://schemas.openxmlformats.org/officeDocument/2006/math">
                    <m:oMathParaPr>
                      <m:jc m:val="center"/>
                    </m:oMathParaPr>
                    <m:oMath>
                      <m:r>
                        <m:rPr>
                          <m:nor/>
                          <m:sty m:val="p"/>
                        </m:rPr>
                        <m:t>Top-1</m:t>
                      </m:r>
                      <m:r>
                        <m:rPr>
                          <m:sty m:val="p"/>
                        </m:rPr>
                        <m:t>=</m:t>
                      </m:r>
                      <m:f>
                        <m:fPr>
                          <m:type m:val="bar"/>
                        </m:fPr>
                        <m:num>
                          <m:r>
                            <m:rPr>
                              <m:nor/>
                              <m:sty m:val="p"/>
                            </m:rPr>
                            <m:t>Correct highest-confidence predictions</m:t>
                          </m:r>
                        </m:num>
                        <m:den>
                          <m:r>
                            <m:rPr>
                              <m:nor/>
                              <m:sty m:val="p"/>
                            </m:rPr>
                            <m:t>Total predictions</m:t>
                          </m:r>
                        </m:den>
                      </m:f>
                      <m:r>
                        <m:rPr>
                          <m:sty m:val="p"/>
                        </m:rPr>
                        <m:t>×</m:t>
                      </m:r>
                      <m:r>
                        <m:t>100</m:t>
                      </m:r>
                    </m:oMath>
                  </m:oMathPara>
                </a14:m>
              </a:p>
              <a:p>
                <a:pPr lvl="0" indent="0" marL="0">
                  <a:buNone/>
                </a:pPr>
                <a:r>
                  <a:rPr b="1"/>
                  <a:t>Top-3 Accuracy</a:t>
                </a:r>
              </a:p>
              <a:p>
                <a:pPr lvl="0" indent="0" marL="0">
                  <a:buNone/>
                </a:pPr>
                <a14:m>
                  <m:oMathPara xmlns:m="http://schemas.openxmlformats.org/officeDocument/2006/math">
                    <m:oMathParaPr>
                      <m:jc m:val="center"/>
                    </m:oMathParaPr>
                    <m:oMath>
                      <m:r>
                        <m:rPr>
                          <m:nor/>
                          <m:sty m:val="p"/>
                        </m:rPr>
                        <m:t>Top-3</m:t>
                      </m:r>
                      <m:r>
                        <m:rPr>
                          <m:sty m:val="p"/>
                        </m:rPr>
                        <m:t>=</m:t>
                      </m:r>
                      <m:f>
                        <m:fPr>
                          <m:type m:val="bar"/>
                        </m:fPr>
                        <m:num>
                          <m:r>
                            <m:rPr>
                              <m:nor/>
                              <m:sty m:val="p"/>
                            </m:rPr>
                            <m:t>True class inside top 3 predictions</m:t>
                          </m:r>
                        </m:num>
                        <m:den>
                          <m:r>
                            <m:rPr>
                              <m:nor/>
                              <m:sty m:val="p"/>
                            </m:rPr>
                            <m:t>Total predictions</m:t>
                          </m:r>
                        </m:den>
                      </m:f>
                      <m:r>
                        <m:rPr>
                          <m:sty m:val="p"/>
                        </m:rPr>
                        <m:t>×</m:t>
                      </m:r>
                      <m:r>
                        <m:t>100</m:t>
                      </m:r>
                    </m:oMath>
                  </m:oMathPara>
                </a14:m>
              </a:p>
              <a:p>
                <a:pPr lvl="0" indent="0" marL="0">
                  <a:buNone/>
                </a:pPr>
                <a:r>
                  <a:rPr b="1"/>
                  <a:t>Precision, Recall, F1</a:t>
                </a:r>
              </a:p>
              <a:p>
                <a:pPr lvl="0" indent="0" marL="0">
                  <a:buNone/>
                </a:pPr>
                <a14:m>
                  <m:oMathPara xmlns:m="http://schemas.openxmlformats.org/officeDocument/2006/math">
                    <m:oMathParaPr>
                      <m:jc m:val="center"/>
                    </m:oMathParaPr>
                    <m:oMath>
                      <m:r>
                        <m:rPr>
                          <m:nor/>
                          <m:sty m:val="p"/>
                        </m:rPr>
                        <m:t>Precision</m:t>
                      </m:r>
                      <m:r>
                        <m:rPr>
                          <m:sty m:val="p"/>
                        </m:rPr>
                        <m:t>=</m:t>
                      </m:r>
                      <m:f>
                        <m:fPr>
                          <m:type m:val="bar"/>
                        </m:fPr>
                        <m:num>
                          <m:r>
                            <m:t>T</m:t>
                          </m:r>
                          <m:r>
                            <m:t>P</m:t>
                          </m:r>
                        </m:num>
                        <m:den>
                          <m:r>
                            <m:t>T</m:t>
                          </m:r>
                          <m:r>
                            <m:t>P</m:t>
                          </m:r>
                          <m:r>
                            <m:rPr>
                              <m:sty m:val="p"/>
                            </m:rPr>
                            <m:t>+</m:t>
                          </m:r>
                          <m:r>
                            <m:t>F</m:t>
                          </m:r>
                          <m:r>
                            <m:t>P</m:t>
                          </m:r>
                        </m:den>
                      </m:f>
                      <m:r>
                        <m:rPr>
                          <m:sty m:val="p"/>
                        </m:rPr>
                        <m:t>,</m:t>
                      </m:r>
                      <m:r>
                        <m:t> </m:t>
                      </m:r>
                      <m:r>
                        <m:rPr>
                          <m:nor/>
                          <m:sty m:val="p"/>
                        </m:rPr>
                        <m:t>Recall</m:t>
                      </m:r>
                      <m:r>
                        <m:rPr>
                          <m:sty m:val="p"/>
                        </m:rPr>
                        <m:t>=</m:t>
                      </m:r>
                      <m:f>
                        <m:fPr>
                          <m:type m:val="bar"/>
                        </m:fPr>
                        <m:num>
                          <m:r>
                            <m:t>T</m:t>
                          </m:r>
                          <m:r>
                            <m:t>P</m:t>
                          </m:r>
                        </m:num>
                        <m:den>
                          <m:r>
                            <m:t>T</m:t>
                          </m:r>
                          <m:r>
                            <m:t>P</m:t>
                          </m:r>
                          <m:r>
                            <m:rPr>
                              <m:sty m:val="p"/>
                            </m:rPr>
                            <m:t>+</m:t>
                          </m:r>
                          <m:r>
                            <m:t>F</m:t>
                          </m:r>
                          <m:r>
                            <m:t>N</m:t>
                          </m:r>
                        </m:den>
                      </m:f>
                      <m:r>
                        <m:rPr>
                          <m:sty m:val="p"/>
                        </m:rPr>
                        <m:t>,</m:t>
                      </m:r>
                      <m:r>
                        <m:t> </m:t>
                      </m:r>
                      <m:r>
                        <m:rPr>
                          <m:nor/>
                          <m:sty m:val="p"/>
                        </m:rPr>
                        <m:t>F1</m:t>
                      </m:r>
                      <m:r>
                        <m:rPr>
                          <m:sty m:val="p"/>
                        </m:rPr>
                        <m:t>=</m:t>
                      </m:r>
                      <m:r>
                        <m:t>2</m:t>
                      </m:r>
                      <m:r>
                        <m:rPr>
                          <m:sty m:val="p"/>
                        </m:rPr>
                        <m:t>⋅</m:t>
                      </m:r>
                      <m:f>
                        <m:fPr>
                          <m:type m:val="bar"/>
                        </m:fPr>
                        <m:num>
                          <m:r>
                            <m:t>P</m:t>
                          </m:r>
                          <m:r>
                            <m:t>R</m:t>
                          </m:r>
                        </m:num>
                        <m:den>
                          <m:r>
                            <m:t>P</m:t>
                          </m:r>
                          <m:r>
                            <m:rPr>
                              <m:sty m:val="p"/>
                            </m:rPr>
                            <m:t>+</m:t>
                          </m:r>
                          <m:r>
                            <m:t>R</m:t>
                          </m:r>
                        </m:den>
                      </m:f>
                    </m:oMath>
                  </m:oMathPara>
                </a14:m>
              </a:p>
              <a:p>
                <a:pPr lvl="0" indent="0" marL="0">
                  <a:buNone/>
                </a:pPr>
                <a:r>
                  <a:rPr/>
                  <a:t>Current BiLSTM Analytics </a:t>
                </a:r>
                <a:r>
                  <a:rPr b="1"/>
                  <a:t>From </a:t>
                </a:r>
                <a:r>
                  <a:rPr b="1">
                    <a:latin typeface="Courier"/>
                  </a:rPr>
                  <a:t>metrics_summary.json</a:t>
                </a:r>
              </a:p>
              <a:p>
                <a:pPr lvl="0"/>
                <a:r>
                  <a:rPr/>
                  <a:t>Top-1 Accuracy: </a:t>
                </a:r>
                <a:r>
                  <a:rPr b="1"/>
                  <a:t>93.72%</a:t>
                </a:r>
              </a:p>
              <a:p>
                <a:pPr lvl="0"/>
                <a:r>
                  <a:rPr/>
                  <a:t>Top-3 Accuracy: </a:t>
                </a:r>
                <a:r>
                  <a:rPr b="1"/>
                  <a:t>99.82%</a:t>
                </a:r>
              </a:p>
              <a:p>
                <a:pPr lvl="0"/>
                <a:r>
                  <a:rPr/>
                  <a:t>Weighted F1-score: </a:t>
                </a:r>
                <a:r>
                  <a:rPr b="1"/>
                  <a:t>93.64%</a:t>
                </a:r>
              </a:p>
              <a:p>
                <a:pPr lvl="0"/>
                <a:r>
                  <a:rPr/>
                  <a:t>Macro F1-score: </a:t>
                </a:r>
                <a:r>
                  <a:rPr b="1"/>
                  <a:t>91.69%</a:t>
                </a:r>
              </a:p>
              <a:p>
                <a:pPr lvl="0" indent="0" marL="0">
                  <a:buNone/>
                </a:pPr>
                <a:r>
                  <a:rPr b="1"/>
                  <a:t>From </a:t>
                </a:r>
                <a:r>
                  <a:rPr b="1">
                    <a:latin typeface="Courier"/>
                  </a:rPr>
                  <a:t>bilstm_history.json</a:t>
                </a:r>
              </a:p>
              <a:p>
                <a:pPr lvl="0"/>
                <a:r>
                  <a:rPr/>
                  <a:t>training accuracy rises from </a:t>
                </a:r>
                <a14:m>
                  <m:oMath xmlns:m="http://schemas.openxmlformats.org/officeDocument/2006/math">
                    <m:r>
                      <m:rPr>
                        <m:sty m:val="p"/>
                      </m:rPr>
                      <m:t>≈</m:t>
                    </m:r>
                    <m:r>
                      <m:t>47</m:t>
                    </m:r>
                    <m:r>
                      <m:rPr>
                        <m:sty m:val="p"/>
                      </m:rPr>
                      <m:t>%</m:t>
                    </m:r>
                  </m:oMath>
                </a14:m>
                <a:r>
                  <a:rPr/>
                  <a:t> to </a:t>
                </a:r>
                <a14:m>
                  <m:oMath xmlns:m="http://schemas.openxmlformats.org/officeDocument/2006/math">
                    <m:r>
                      <m:rPr>
                        <m:sty m:val="p"/>
                      </m:rPr>
                      <m:t>≈</m:t>
                    </m:r>
                    <m:r>
                      <m:t>94.7</m:t>
                    </m:r>
                    <m:r>
                      <m:rPr>
                        <m:sty m:val="p"/>
                      </m:rPr>
                      <m:t>%</m:t>
                    </m:r>
                  </m:oMath>
                </a14:m>
              </a:p>
              <a:p>
                <a:pPr lvl="0"/>
                <a:r>
                  <a:rPr/>
                  <a:t>validation accuracy peaks around </a:t>
                </a:r>
                <a:r>
                  <a:rPr b="1"/>
                  <a:t>89.69%</a:t>
                </a:r>
              </a:p>
              <a:p>
                <a:pPr lvl="0"/>
                <a:r>
                  <a:rPr/>
                  <a:t>late-epoch spikes in validation loss indicate overfitting risk</a:t>
                </a:r>
              </a:p>
              <a:p>
                <a:pPr lvl="0" indent="0" marL="0">
                  <a:buNone/>
                </a:pPr>
                <a:r>
                  <a:rPr/>
                  <a:t>Three-Model Accuracy Comparison</a:t>
                </a:r>
              </a:p>
              <a:p>
                <a:pPr lvl="0" indent="0" marL="0">
                  <a:buNone/>
                </a:pPr>
                <a:r>
                  <a:rPr b="1"/>
                  <a:t>Important note</a:t>
                </a:r>
              </a:p>
              <a:p>
                <a:pPr lvl="0"/>
                <a:r>
                  <a:rPr/>
                  <a:t>Transformer is strongest in the current evaluation run.</a:t>
                </a:r>
              </a:p>
              <a:p>
                <a:pPr lvl="0"/>
                <a:r>
                  <a:rPr/>
                  <a:t>For strict academic reporting, it should still be verified on a fully unseen holdout split before making the final deployment claim.</a:t>
                </a:r>
              </a:p>
              <a:p>
                <a:pPr lvl="0" indent="0" marL="0">
                  <a:buNone/>
                </a:pPr>
                <a:r>
                  <a:rPr/>
                  <a:t>BiLSTM Class-wise Performance</a:t>
                </a:r>
              </a:p>
              <a:p>
                <a:pPr lvl="0" indent="0" marL="0">
                  <a:buNone/>
                </a:pPr>
                <a:r>
                  <a:rPr b="1"/>
                  <a:t>Interpretation</a:t>
                </a:r>
              </a:p>
              <a:p>
                <a:pPr lvl="0"/>
                <a:r>
                  <a:rPr/>
                  <a:t>strongest classes are push_up and pull_up,</a:t>
                </a:r>
              </a:p>
              <a:p>
                <a:pPr lvl="0"/>
                <a:r>
                  <a:rPr/>
                  <a:t>squat is strong,</a:t>
                </a:r>
              </a:p>
              <a:p>
                <a:pPr lvl="0"/>
                <a:r>
                  <a:rPr/>
                  <a:t>the most difficult class pair remains bicep_curl vs hammer_curl.</a:t>
                </a:r>
              </a:p>
              <a:p>
                <a:pPr lvl="0" indent="0" marL="0">
                  <a:buNone/>
                </a:pPr>
                <a:r>
                  <a:rPr/>
                  <a:t>How This Project Improves on the Papers</a:t>
                </a:r>
              </a:p>
              <a:p>
                <a:pPr lvl="0"/>
                <a:r>
                  <a:rPr/>
                  <a:t>Many papers stop at posture detection or recognition only.</a:t>
                </a:r>
              </a:p>
              <a:p>
                <a:pPr lvl="0"/>
                <a:r>
                  <a:rPr/>
                  <a:t>This project combines:</a:t>
                </a:r>
              </a:p>
              <a:p>
                <a:pPr lvl="1"/>
                <a:r>
                  <a:rPr/>
                  <a:t>exercise recognition,</a:t>
                </a:r>
              </a:p>
              <a:p>
                <a:pPr lvl="1"/>
                <a:r>
                  <a:rPr/>
                  <a:t>repetition counting,</a:t>
                </a:r>
              </a:p>
              <a:p>
                <a:pPr lvl="1"/>
                <a:r>
                  <a:rPr/>
                  <a:t>posture correction,</a:t>
                </a:r>
              </a:p>
              <a:p>
                <a:pPr lvl="1"/>
                <a:r>
                  <a:rPr/>
                  <a:t>live voice feedback,</a:t>
                </a:r>
              </a:p>
              <a:p>
                <a:pPr lvl="1"/>
                <a:r>
                  <a:rPr/>
                  <a:t>website deployment,</a:t>
                </a:r>
              </a:p>
              <a:p>
                <a:pPr lvl="1"/>
                <a:r>
                  <a:rPr/>
                  <a:t>SQL-based progress tracking,</a:t>
                </a:r>
              </a:p>
              <a:p>
                <a:pPr lvl="1"/>
                <a:r>
                  <a:rPr/>
                  <a:t>end-of-exercise reports.</a:t>
                </a:r>
              </a:p>
              <a:p>
                <a:pPr lvl="0"/>
                <a:r>
                  <a:rPr/>
                  <a:t>So the project is more complete as an end-to-end application, not only a model experiment.</a:t>
                </a:r>
              </a:p>
              <a:p>
                <a:pPr lvl="0" indent="0" marL="0">
                  <a:buNone/>
                </a:pPr>
                <a:r>
                  <a:rPr/>
                  <a:t>Future Improvements</a:t>
                </a:r>
              </a:p>
              <a:p>
                <a:pPr lvl="0"/>
                <a:r>
                  <a:rPr/>
                  <a:t>add more balanced curl and squat videos,</a:t>
                </a:r>
              </a:p>
              <a:p>
                <a:pPr lvl="0"/>
                <a:r>
                  <a:rPr/>
                  <a:t>create a strict train/validation/test benchmark split,</a:t>
                </a:r>
              </a:p>
              <a:p>
                <a:pPr lvl="0"/>
                <a:r>
                  <a:rPr/>
                  <a:t>increase exercise coverage,</a:t>
                </a:r>
              </a:p>
              <a:p>
                <a:pPr lvl="0"/>
                <a:r>
                  <a:rPr/>
                  <a:t>add per-user calibration,</a:t>
                </a:r>
              </a:p>
              <a:p>
                <a:pPr lvl="0"/>
                <a:r>
                  <a:rPr/>
                  <a:t>improve exercise-quality scoring for each rep,</a:t>
                </a:r>
              </a:p>
              <a:p>
                <a:pPr lvl="0"/>
                <a:r>
                  <a:rPr/>
                  <a:t>optimize browser-side speed further for smoother live inference.</a:t>
                </a:r>
              </a:p>
              <a:p>
                <a:pPr lvl="0" indent="0" marL="0">
                  <a:buNone/>
                </a:pPr>
                <a:r>
                  <a:rPr/>
                  <a:t>Conclusion FormFix AI is a real-time AI workout assistant that combines pose estimation, temporal sequence modeling, rep counting, posture correction, web deployment, and user progress tracking.</a:t>
                </a:r>
              </a:p>
              <a:p>
                <a:pPr lvl="0" indent="0" marL="0">
                  <a:buNone/>
                </a:pPr>
                <a:r>
                  <a:rPr/>
                  <a:t>The project uses LSTM, BiLSTM, and Transformer models for exercise classification, and complements them with exercise-specific angle logic for rep counting and corrective feedback. The current analytics show strong performance, especially for push-up, pull-up, and squat classes.</a:t>
                </a:r>
              </a:p>
              <a:p>
                <a:pPr lvl="0" indent="0" marL="0">
                  <a:buNone/>
                </a:pPr>
                <a:r>
                  <a:rPr/>
                  <a:t>The system can be further improved through better dataset balance, stricter benchmarking, and expansion to more exercises, but it already demonstrates a practical AI fitness trainer built from research ideas and deployed as a usable application.</a:t>
                </a:r>
              </a:p>
              <a:p>
                <a:pPr lvl="0" indent="0" marL="0">
                  <a:buNone/>
                </a:pPr>
                <a:r>
                  <a:rPr/>
                  <a:t>Thank You</a:t>
                </a: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FormFix-AI</dc:title>
  <dc:creator>Syed Ahmed (U25UV23T029111),Vibha V Muradi (U25UV23T029122)</dc:creator>
  <cp:keywords/>
  <dcterms:created xsi:type="dcterms:W3CDTF">2026-04-12T20:04:21Z</dcterms:created>
  <dcterms:modified xsi:type="dcterms:W3CDTF">2026-04-12T20:04:21Z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2026-04-13</vt:lpwstr>
  </property>
  <property fmtid="{D5CDD505-2E9C-101B-9397-08002B2CF9AE}" pid="3" name="subtitle">
    <vt:lpwstr>MULTI-MODEL AI REAL TIME GYM POSE DETECTION AND CORRECTION USING LSTM, BiLSTM and TRANSFORMER</vt:lpwstr>
  </property>
</Properties>
</file>